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3e61f95084281" /><Relationship Type="http://schemas.openxmlformats.org/officeDocument/2006/relationships/extended-properties" Target="/docProps/app.xml" Id="Rceb28bf4d2584d40" /><Relationship Type="http://schemas.openxmlformats.org/officeDocument/2006/relationships/officeDocument" Target="/ppt/presentation.xml" Id="R546d5987010c46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bfb53811c54f5f"/>
  </p:sldMasterIdLst>
  <p:notesMasterIdLst>
    <p:notesMasterId xmlns:r="http://schemas.openxmlformats.org/officeDocument/2006/relationships" r:id="R72f0c1969b3d49d7"/>
  </p:notesMasterIdLst>
  <p:sldIdLst>
    <p:sldId xmlns:r="http://schemas.openxmlformats.org/officeDocument/2006/relationships" id="256" r:id="R86595884bc804f9d"/>
    <p:sldId xmlns:r="http://schemas.openxmlformats.org/officeDocument/2006/relationships" id="257" r:id="R1f8df66b51bb47e8"/>
    <p:sldId xmlns:r="http://schemas.openxmlformats.org/officeDocument/2006/relationships" id="258" r:id="Rb9b5d325ac8d4463"/>
    <p:sldId xmlns:r="http://schemas.openxmlformats.org/officeDocument/2006/relationships" id="259" r:id="R8c22bfd0c60641ad"/>
    <p:sldId xmlns:r="http://schemas.openxmlformats.org/officeDocument/2006/relationships" id="260" r:id="Rabc9930baff4468d"/>
    <p:sldId xmlns:r="http://schemas.openxmlformats.org/officeDocument/2006/relationships" id="261" r:id="R4f6962935cef422e"/>
    <p:sldId xmlns:r="http://schemas.openxmlformats.org/officeDocument/2006/relationships" id="262" r:id="R4f167622648b4ae6"/>
    <p:sldId xmlns:r="http://schemas.openxmlformats.org/officeDocument/2006/relationships" id="263" r:id="R6d854640700e40e9"/>
    <p:sldId xmlns:r="http://schemas.openxmlformats.org/officeDocument/2006/relationships" id="264" r:id="R2e34e54ffcf747ed"/>
    <p:sldId xmlns:r="http://schemas.openxmlformats.org/officeDocument/2006/relationships" id="265" r:id="R02a118ba8d6b42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f9c9d8cb34eee" /><Relationship Type="http://schemas.openxmlformats.org/officeDocument/2006/relationships/slideMaster" Target="/ppt/slideMasters/slideMaster1.xml" Id="R6dbfb53811c54f5f" /><Relationship Type="http://schemas.openxmlformats.org/officeDocument/2006/relationships/notesMaster" Target="/ppt/notesMasters/notesMaster1.xml" Id="R72f0c1969b3d49d7" /><Relationship Type="http://schemas.openxmlformats.org/officeDocument/2006/relationships/presProps" Target="/ppt/presProps.xml" Id="Rcb69e8f5b2b446db" /><Relationship Type="http://schemas.openxmlformats.org/officeDocument/2006/relationships/tableStyles" Target="/ppt/tableStyles.xml" Id="R87da80ac7bd342c5" /><Relationship Type="http://schemas.openxmlformats.org/officeDocument/2006/relationships/slide" Target="/ppt/slides/slide1.xml" Id="R86595884bc804f9d" /><Relationship Type="http://schemas.openxmlformats.org/officeDocument/2006/relationships/slide" Target="/ppt/slides/slide2.xml" Id="R1f8df66b51bb47e8" /><Relationship Type="http://schemas.openxmlformats.org/officeDocument/2006/relationships/slide" Target="/ppt/slides/slide3.xml" Id="Rb9b5d325ac8d4463" /><Relationship Type="http://schemas.openxmlformats.org/officeDocument/2006/relationships/slide" Target="/ppt/slides/slide4.xml" Id="R8c22bfd0c60641ad" /><Relationship Type="http://schemas.openxmlformats.org/officeDocument/2006/relationships/slide" Target="/ppt/slides/slide5.xml" Id="Rabc9930baff4468d" /><Relationship Type="http://schemas.openxmlformats.org/officeDocument/2006/relationships/slide" Target="/ppt/slides/slide6.xml" Id="R4f6962935cef422e" /><Relationship Type="http://schemas.openxmlformats.org/officeDocument/2006/relationships/slide" Target="/ppt/slides/slide7.xml" Id="R4f167622648b4ae6" /><Relationship Type="http://schemas.openxmlformats.org/officeDocument/2006/relationships/slide" Target="/ppt/slides/slide8.xml" Id="R6d854640700e40e9" /><Relationship Type="http://schemas.openxmlformats.org/officeDocument/2006/relationships/slide" Target="/ppt/slides/slide9.xml" Id="R2e34e54ffcf747ed" /><Relationship Type="http://schemas.openxmlformats.org/officeDocument/2006/relationships/slide" Target="/ppt/slides/slide10.xml" Id="R02a118ba8d6b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1bb3e08bd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b0caaada64793" /><Relationship Type="http://schemas.openxmlformats.org/officeDocument/2006/relationships/notesMaster" Target="/ppt/notesMasters/notesMaster1.xml" Id="R289c77bc21c9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d32a9b62b04611" /><Relationship Type="http://schemas.openxmlformats.org/officeDocument/2006/relationships/notesMaster" Target="/ppt/notesMasters/notesMaster1.xml" Id="R5d9433f3441f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0f4dc9fc994955" /><Relationship Type="http://schemas.openxmlformats.org/officeDocument/2006/relationships/notesMaster" Target="/ppt/notesMasters/notesMaster1.xml" Id="R26e59f954758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c3969921174407" /><Relationship Type="http://schemas.openxmlformats.org/officeDocument/2006/relationships/notesMaster" Target="/ppt/notesMasters/notesMaster1.xml" Id="Rb99a265837b4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4eefbc977467f" /><Relationship Type="http://schemas.openxmlformats.org/officeDocument/2006/relationships/notesMaster" Target="/ppt/notesMasters/notesMaster1.xml" Id="Rddf0f9e9c60e45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d4c813f914d47" /><Relationship Type="http://schemas.openxmlformats.org/officeDocument/2006/relationships/notesMaster" Target="/ppt/notesMasters/notesMaster1.xml" Id="R57d0fe6eb963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cd24ee77940d0" /><Relationship Type="http://schemas.openxmlformats.org/officeDocument/2006/relationships/notesMaster" Target="/ppt/notesMasters/notesMaster1.xml" Id="R1020cc0b149a49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1044d92dd471c" /><Relationship Type="http://schemas.openxmlformats.org/officeDocument/2006/relationships/notesMaster" Target="/ppt/notesMasters/notesMaster1.xml" Id="R6b8788544a044c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75a64fa0b4376" /><Relationship Type="http://schemas.openxmlformats.org/officeDocument/2006/relationships/notesMaster" Target="/ppt/notesMasters/notesMaster1.xml" Id="R67a4fe6fc5d843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9e22a8a2584256" /><Relationship Type="http://schemas.openxmlformats.org/officeDocument/2006/relationships/notesMaster" Target="/ppt/notesMasters/notesMaster1.xml" Id="R0b340b7d34ab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README.md. https://github.com/headsoft-mikhail/netology-aiepro-ml-classifier-demo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01_eda.ipynb; 02_preparation.ipynb. UCI Cardiotocography, реальные измерения. DOI 10.24432/C51S4N, CC BY 4.0. https://archive.ics.uci.edu/dataset/193/cardiotocography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02_preparation.ipynb. StratifiedGroupKFold, FileName, CLASS, seed 42. Разбиение по группам, не по отдельным строкам.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03_classical_models.ipynb, раздел 5. Значения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03_classical_models.ipynb, 04_neural_models.ipynb. CLASS MLP validation .743 → .843; NSP .793 → .865. 150+100 попыток классических моделей, 50 MLP.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04_neural_models.ipynb. Графики исходной CLASS-сети, 50 эпох. После подбора CLASS trial 0: 53 эпохи, лучшие веса 33; NSP trial 11: 26 эпох, лучшие веса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04_neural_models.ipynb, ячейка расчёта test-метрик. Все варианты на тех же 421 записях. Precision/recall усреднены macro. Macro-F1 отдельно взвешивает классы поровну, weighted-F1 учитывает их частоту.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classification_report.json: RF baseline run 161891b000e34556a19d79067514c3de, RF selected 11a5f71da8a5455098a33ec8f45738b1, MLP 2bcca84c4a9a4f7f9959d066a4e09163. Macro-precision RF .8603→.7749, macro-recall .6764→.7896.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04_neural_models.ipynb, test confusion matrices. Для baseline Pathologic→Normal=1, Suspect→Normal=13, Pathologic→Suspect=7, false alerts=17; RF selected 0,8,7,28; MLP 0,4,12,53.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03_classical_models.ipynb, 04_neural_models.ipynb; README.md. API uses optimized RandomForest for each target. Test учитывался в обсуждении окончательного выбора, дальнейший подбор по нему не проводился.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0031099824c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4f141282a44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c4a7066fd41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14ea461c54f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bb3912c2a48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b8b00de28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B7307B-6075-449D-BC15-AB3B1F717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DF5742-EF15-43B9-AC83-3D27C79EBD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494DC9-A021-4253-AB8B-E74CA629A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14EB7B-B2C6-4D0A-A609-752C8DE20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850BD9-3F7B-43BE-B928-A9C2E3AA93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C9986D-3B09-49E1-A105-BA38A3F1E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6EB192-239B-47D7-9B31-8771D925B6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B8ACC2-9294-4EB7-8EDD-1B9204EE4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E0318A-0451-4BDC-9370-D606B46D2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0EE9DC-421D-4C7F-A6AE-0CD1CBBFB2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8dc034a5949ed" /><Relationship Type="http://schemas.openxmlformats.org/officeDocument/2006/relationships/slideLayout" Target="/ppt/slideLayouts/slideLayout1.xml" Id="Rdce33abb3c134146" /><Relationship Type="http://schemas.openxmlformats.org/officeDocument/2006/relationships/slideLayout" Target="/ppt/slideLayouts/slideLayout2.xml" Id="R7bcbb752a66d4ed0" /><Relationship Type="http://schemas.openxmlformats.org/officeDocument/2006/relationships/slideLayout" Target="/ppt/slideLayouts/slideLayout3.xml" Id="Rd9520e136fa24f2b" /><Relationship Type="http://schemas.openxmlformats.org/officeDocument/2006/relationships/slideLayout" Target="/ppt/slideLayouts/slideLayout4.xml" Id="Rb975539f483a42f2" /><Relationship Type="http://schemas.openxmlformats.org/officeDocument/2006/relationships/slideLayout" Target="/ppt/slideLayouts/slideLayout5.xml" Id="Rc3a84605de444f5a" /><Relationship Type="http://schemas.openxmlformats.org/officeDocument/2006/relationships/slideLayout" Target="/ppt/slideLayouts/slideLayout6.xml" Id="Rda4f095bf8a1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33abb3c134146"/>
    <p:sldLayoutId xmlns:r="http://schemas.openxmlformats.org/officeDocument/2006/relationships" id="2147483650" r:id="R7bcbb752a66d4ed0"/>
    <p:sldLayoutId xmlns:r="http://schemas.openxmlformats.org/officeDocument/2006/relationships" id="2147483651" r:id="Rd9520e136fa24f2b"/>
    <p:sldLayoutId xmlns:r="http://schemas.openxmlformats.org/officeDocument/2006/relationships" id="2147483652" r:id="Rb975539f483a42f2"/>
    <p:sldLayoutId xmlns:r="http://schemas.openxmlformats.org/officeDocument/2006/relationships" id="2147483653" r:id="Rc3a84605de444f5a"/>
    <p:sldLayoutId xmlns:r="http://schemas.openxmlformats.org/officeDocument/2006/relationships" id="2147483654" r:id="Rda4f095bf8a1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e291b11094961" /><Relationship Type="http://schemas.openxmlformats.org/officeDocument/2006/relationships/notesSlide" Target="/ppt/notesSlides/notesSlide1.xml" Id="Rb259479327cb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50e14cbe24360" /><Relationship Type="http://schemas.openxmlformats.org/officeDocument/2006/relationships/chart" Target="/ppt/slides/charts/chart1.xml" Id="Rb6c49d0c35464626" /><Relationship Type="http://schemas.openxmlformats.org/officeDocument/2006/relationships/notesSlide" Target="/ppt/notesSlides/notesSlide2.xml" Id="R8c216aadec54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65bd6f2184d5f" /><Relationship Type="http://schemas.openxmlformats.org/officeDocument/2006/relationships/chart" Target="/ppt/slides/charts/chart2.xml" Id="R25d4893879d2424d" /><Relationship Type="http://schemas.openxmlformats.org/officeDocument/2006/relationships/notesSlide" Target="/ppt/notesSlides/notesSlide3.xml" Id="R7a86507c1e634f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b31dbcf3c45bc" /><Relationship Type="http://schemas.openxmlformats.org/officeDocument/2006/relationships/chart" Target="/ppt/slides/charts/chart3.xml" Id="R3b6f5896168d40a0" /><Relationship Type="http://schemas.openxmlformats.org/officeDocument/2006/relationships/notesSlide" Target="/ppt/notesSlides/notesSlide4.xml" Id="R433106b3ed8c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07da15120439a" /><Relationship Type="http://schemas.openxmlformats.org/officeDocument/2006/relationships/notesSlide" Target="/ppt/notesSlides/notesSlide5.xml" Id="Rcd42784fea7f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d8e07ed404ccc" /><Relationship Type="http://schemas.openxmlformats.org/officeDocument/2006/relationships/image" Target="/ppt/media/image.png" Id="R5488e28677144adb" /><Relationship Type="http://schemas.openxmlformats.org/officeDocument/2006/relationships/notesSlide" Target="/ppt/notesSlides/notesSlide6.xml" Id="R36e7ab7167cf45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2262aa29d4a00" /><Relationship Type="http://schemas.openxmlformats.org/officeDocument/2006/relationships/chart" Target="/ppt/slides/charts/chart4.xml" Id="Rd7262150064a42a1" /><Relationship Type="http://schemas.openxmlformats.org/officeDocument/2006/relationships/chart" Target="/ppt/slides/charts/chart5.xml" Id="Rca3a5800cd8945e1" /><Relationship Type="http://schemas.openxmlformats.org/officeDocument/2006/relationships/notesSlide" Target="/ppt/notesSlides/notesSlide7.xml" Id="R59fbc5b278d1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76d1f6a1f4885" /><Relationship Type="http://schemas.openxmlformats.org/officeDocument/2006/relationships/chart" Target="/ppt/slides/charts/chart6.xml" Id="R81570d5f003e437f" /><Relationship Type="http://schemas.openxmlformats.org/officeDocument/2006/relationships/notesSlide" Target="/ppt/notesSlides/notesSlide8.xml" Id="R06537df5e55342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35a948f4547a5" /><Relationship Type="http://schemas.openxmlformats.org/officeDocument/2006/relationships/chart" Target="/ppt/slides/charts/chart7.xml" Id="R7612dfb427f443b4" /><Relationship Type="http://schemas.openxmlformats.org/officeDocument/2006/relationships/notesSlide" Target="/ppt/notesSlides/notesSlide9.xml" Id="R03e584e77e8b48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acc750f204845" /><Relationship Type="http://schemas.openxmlformats.org/officeDocument/2006/relationships/notesSlide" Target="/ppt/notesSlides/notesSlide10.xml" Id="Ra929aaf3449746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Число записей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AD</c:v>
                </c:pt>
                <c:pt idx="6">
                  <c:v>DE</c:v>
                </c:pt>
                <c:pt idx="7">
                  <c:v>LD</c:v>
                </c:pt>
                <c:pt idx="8">
                  <c:v>FS</c:v>
                </c:pt>
                <c:pt idx="9">
                  <c:v>SUSP</c:v>
                </c:pt>
              </c:strCache>
            </c:strRef>
          </c:cat>
          <c:val>
            <c:numRef>
              <c:f>'Chart Data'!$B$2:$B$11</c:f>
              <c:numCache>
                <c:formatCode>0</c:formatCode>
                <c:ptCount val="10"/>
                <c:pt idx="0">
                  <c:v>229</c:v>
                </c:pt>
                <c:pt idx="1">
                  <c:v>345</c:v>
                </c:pt>
                <c:pt idx="2">
                  <c:v>29</c:v>
                </c:pt>
                <c:pt idx="3">
                  <c:v>48</c:v>
                </c:pt>
                <c:pt idx="4">
                  <c:v>43</c:v>
                </c:pt>
                <c:pt idx="5">
                  <c:v>200</c:v>
                </c:pt>
                <c:pt idx="6">
                  <c:v>150</c:v>
                </c:pt>
                <c:pt idx="7">
                  <c:v>64</c:v>
                </c:pt>
                <c:pt idx="8">
                  <c:v>41</c:v>
                </c:pt>
                <c:pt idx="9">
                  <c:v>117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Записи</c:v>
          </c:tx>
          <c:dPt>
            <c:idx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spPr>
              <a:solidFill xmlns:a="http://schemas.openxmlformats.org/drawingml/2006/main">
                <a:srgbClr val="4577AF"/>
              </a:solidFill>
            </c:spPr>
          </c:dPt>
          <c:dPt>
            <c:idx val="2"/>
            <c:spPr>
              <a:solidFill xmlns:a="http://schemas.openxmlformats.org/drawingml/2006/main">
                <a:srgbClr val="C7793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Train: 1266</c:v>
                </c:pt>
                <c:pt idx="1">
                  <c:v>Validation: 421</c:v>
                </c:pt>
                <c:pt idx="2">
                  <c:v>Test: 421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1266</c:v>
                </c:pt>
                <c:pt idx="1">
                  <c:v>421</c:v>
                </c:pt>
                <c:pt idx="2">
                  <c:v>421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CLASS: macro-F1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Dummy</c:v>
                </c:pt>
                <c:pt idx="1">
                  <c:v>LogisticRegression</c:v>
                </c:pt>
                <c:pt idx="2">
                  <c:v>LinearSVC</c:v>
                </c:pt>
                <c:pt idx="3">
                  <c:v>RandomForest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0.043</c:v>
                </c:pt>
                <c:pt idx="1">
                  <c:v>0.698</c:v>
                </c:pt>
                <c:pt idx="2">
                  <c:v>0.669</c:v>
                </c:pt>
                <c:pt idx="3">
                  <c:v>0.7798</c:v>
                </c:pt>
              </c:numCache>
            </c:numRef>
          </c:val>
        </c:ser>
        <c:ser>
          <c:idx val="1"/>
          <c:order val="1"/>
          <c:tx>
            <c:v>NSP: macro-F1</c:v>
          </c:tx>
          <c:spPr>
            <a:solidFill xmlns:a="http://schemas.openxmlformats.org/drawingml/2006/main">
              <a:srgbClr val="4577AF"/>
            </a:solidFill>
          </c:spPr>
          <c:cat>
            <c:strRef>
              <c:f>'Chart Data'!$C$2:$C$5</c:f>
              <c:strCache>
                <c:ptCount val="4"/>
                <c:pt idx="0">
                  <c:v>Dummy</c:v>
                </c:pt>
                <c:pt idx="1">
                  <c:v>LogisticRegression</c:v>
                </c:pt>
                <c:pt idx="2">
                  <c:v>LinearSVC</c:v>
                </c:pt>
                <c:pt idx="3">
                  <c:v>RandomForest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0.292</c:v>
                </c:pt>
                <c:pt idx="1">
                  <c:v>0.761</c:v>
                </c:pt>
                <c:pt idx="2">
                  <c:v>0.76</c:v>
                </c:pt>
                <c:pt idx="3">
                  <c:v>0.8649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baseline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0.7123</c:v>
                </c:pt>
                <c:pt idx="1">
                  <c:v>0.7986</c:v>
                </c:pt>
                <c:pt idx="2">
                  <c:v>0.81</c:v>
                </c:pt>
              </c:numCache>
            </c:numRef>
          </c:val>
        </c:ser>
        <c:ser>
          <c:idx val="1"/>
          <c:order val="1"/>
          <c:tx>
            <c:v>RF подбор</c:v>
          </c:tx>
          <c:spPr>
            <a:solidFill xmlns:a="http://schemas.openxmlformats.org/drawingml/2006/main">
              <a:srgbClr val="4577AF"/>
            </a:solidFill>
          </c:spPr>
          <c:cat>
            <c:strRef>
              <c:f>'Chart Data'!$C$2:$C$4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0.7773</c:v>
                </c:pt>
                <c:pt idx="1">
                  <c:v>0.8206</c:v>
                </c:pt>
                <c:pt idx="2">
                  <c:v>0.8195</c:v>
                </c:pt>
              </c:numCache>
            </c:numRef>
          </c:val>
        </c:ser>
        <c:ser>
          <c:idx val="2"/>
          <c:order val="2"/>
          <c:tx>
            <c:v>MLP</c:v>
          </c:tx>
          <c:spPr>
            <a:solidFill xmlns:a="http://schemas.openxmlformats.org/drawingml/2006/main">
              <a:srgbClr val="C77934"/>
            </a:solidFill>
          </c:spPr>
          <c:cat>
            <c:strRef>
              <c:f>'Chart Data'!$E$2:$E$4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0.7016</c:v>
                </c:pt>
                <c:pt idx="1">
                  <c:v>0.7621</c:v>
                </c:pt>
                <c:pt idx="2">
                  <c:v>0.7625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baseline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0.8326</c:v>
                </c:pt>
                <c:pt idx="1">
                  <c:v>0.9117</c:v>
                </c:pt>
                <c:pt idx="2">
                  <c:v>0.9097</c:v>
                </c:pt>
              </c:numCache>
            </c:numRef>
          </c:val>
        </c:ser>
        <c:ser>
          <c:idx val="1"/>
          <c:order val="1"/>
          <c:tx>
            <c:v>RF подбор</c:v>
          </c:tx>
          <c:spPr>
            <a:solidFill xmlns:a="http://schemas.openxmlformats.org/drawingml/2006/main">
              <a:srgbClr val="4577AF"/>
            </a:solidFill>
          </c:spPr>
          <c:cat>
            <c:strRef>
              <c:f>'Chart Data'!$C$2:$C$4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0.82</c:v>
                </c:pt>
                <c:pt idx="1">
                  <c:v>0.9018</c:v>
                </c:pt>
                <c:pt idx="2">
                  <c:v>0.8955</c:v>
                </c:pt>
              </c:numCache>
            </c:numRef>
          </c:val>
        </c:ser>
        <c:ser>
          <c:idx val="2"/>
          <c:order val="2"/>
          <c:tx>
            <c:v>MLP</c:v>
          </c:tx>
          <c:spPr>
            <a:solidFill xmlns:a="http://schemas.openxmlformats.org/drawingml/2006/main">
              <a:srgbClr val="C77934"/>
            </a:solidFill>
          </c:spPr>
          <c:cat>
            <c:strRef>
              <c:f>'Chart Data'!$E$2:$E$4</c:f>
              <c:strCache>
                <c:ptCount val="3"/>
                <c:pt idx="0">
                  <c:v>Macro-F1</c:v>
                </c:pt>
                <c:pt idx="1">
                  <c:v>Weighted-F1</c:v>
                </c:pt>
                <c:pt idx="2">
                  <c:v>Accuracy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0.7082</c:v>
                </c:pt>
                <c:pt idx="1">
                  <c:v>0.8454</c:v>
                </c:pt>
                <c:pt idx="2">
                  <c:v>0.829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baseline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AD</c:v>
                </c:pt>
                <c:pt idx="6">
                  <c:v>DE</c:v>
                </c:pt>
                <c:pt idx="7">
                  <c:v>LD</c:v>
                </c:pt>
                <c:pt idx="8">
                  <c:v>FS</c:v>
                </c:pt>
                <c:pt idx="9">
                  <c:v>SUSP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0.8133</c:v>
                </c:pt>
                <c:pt idx="1">
                  <c:v>0.9391</c:v>
                </c:pt>
                <c:pt idx="2">
                  <c:v>0.5</c:v>
                </c:pt>
                <c:pt idx="3">
                  <c:v>0.1875</c:v>
                </c:pt>
                <c:pt idx="4">
                  <c:v>0.3571</c:v>
                </c:pt>
                <c:pt idx="5">
                  <c:v>0.803</c:v>
                </c:pt>
                <c:pt idx="6">
                  <c:v>0.94</c:v>
                </c:pt>
                <c:pt idx="7">
                  <c:v>1</c:v>
                </c:pt>
                <c:pt idx="8">
                  <c:v>0.4286</c:v>
                </c:pt>
                <c:pt idx="9">
                  <c:v>0.7949</c:v>
                </c:pt>
              </c:numCache>
            </c:numRef>
          </c:val>
        </c:ser>
        <c:ser>
          <c:idx val="1"/>
          <c:order val="1"/>
          <c:tx>
            <c:v>RF подбор</c:v>
          </c:tx>
          <c:spPr>
            <a:solidFill xmlns:a="http://schemas.openxmlformats.org/drawingml/2006/main">
              <a:srgbClr val="4577AF"/>
            </a:solidFill>
          </c:spPr>
          <c:cat>
            <c:strRef>
              <c:f>'Chart Data'!$C$2:$C$11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AD</c:v>
                </c:pt>
                <c:pt idx="6">
                  <c:v>DE</c:v>
                </c:pt>
                <c:pt idx="7">
                  <c:v>LD</c:v>
                </c:pt>
                <c:pt idx="8">
                  <c:v>FS</c:v>
                </c:pt>
                <c:pt idx="9">
                  <c:v>SUSP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0.7467</c:v>
                </c:pt>
                <c:pt idx="1">
                  <c:v>0.8783</c:v>
                </c:pt>
                <c:pt idx="2">
                  <c:v>0.6</c:v>
                </c:pt>
                <c:pt idx="3">
                  <c:v>0.75</c:v>
                </c:pt>
                <c:pt idx="4">
                  <c:v>0.5714</c:v>
                </c:pt>
                <c:pt idx="5">
                  <c:v>0.7576</c:v>
                </c:pt>
                <c:pt idx="6">
                  <c:v>0.94</c:v>
                </c:pt>
                <c:pt idx="7">
                  <c:v>1</c:v>
                </c:pt>
                <c:pt idx="8">
                  <c:v>0.8571</c:v>
                </c:pt>
                <c:pt idx="9">
                  <c:v>0.7949</c:v>
                </c:pt>
              </c:numCache>
            </c:numRef>
          </c:val>
        </c:ser>
        <c:ser>
          <c:idx val="2"/>
          <c:order val="2"/>
          <c:tx>
            <c:v>MLP</c:v>
          </c:tx>
          <c:spPr>
            <a:solidFill xmlns:a="http://schemas.openxmlformats.org/drawingml/2006/main">
              <a:srgbClr val="C77934"/>
            </a:solidFill>
          </c:spPr>
          <c:cat>
            <c:strRef>
              <c:f>'Chart Data'!$E$2:$E$11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AD</c:v>
                </c:pt>
                <c:pt idx="6">
                  <c:v>DE</c:v>
                </c:pt>
                <c:pt idx="7">
                  <c:v>LD</c:v>
                </c:pt>
                <c:pt idx="8">
                  <c:v>FS</c:v>
                </c:pt>
                <c:pt idx="9">
                  <c:v>SUSP</c:v>
                </c:pt>
              </c:strCache>
            </c:strRef>
          </c:cat>
          <c:val>
            <c:numRef>
              <c:f>'Chart Data'!$F$2:$F$11</c:f>
              <c:numCache>
                <c:formatCode>0.0</c:formatCode>
                <c:ptCount val="10"/>
                <c:pt idx="0">
                  <c:v>0.7333</c:v>
                </c:pt>
                <c:pt idx="1">
                  <c:v>0.887</c:v>
                </c:pt>
                <c:pt idx="2">
                  <c:v>0.4</c:v>
                </c:pt>
                <c:pt idx="3">
                  <c:v>0.8125</c:v>
                </c:pt>
                <c:pt idx="4">
                  <c:v>0.5</c:v>
                </c:pt>
                <c:pt idx="5">
                  <c:v>0.7424</c:v>
                </c:pt>
                <c:pt idx="6">
                  <c:v>0.7</c:v>
                </c:pt>
                <c:pt idx="7">
                  <c:v>1</c:v>
                </c:pt>
                <c:pt idx="8">
                  <c:v>0.2857</c:v>
                </c:pt>
                <c:pt idx="9">
                  <c:v>0.7692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baseline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Pathologic
как Normal</c:v>
                </c:pt>
                <c:pt idx="1">
                  <c:v>Suspect
как Normal</c:v>
                </c:pt>
                <c:pt idx="2">
                  <c:v>Pathologic
как Suspect</c:v>
                </c:pt>
                <c:pt idx="3">
                  <c:v>Ложное
предупреждение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</c:v>
                </c:pt>
                <c:pt idx="1">
                  <c:v>13</c:v>
                </c:pt>
                <c:pt idx="2">
                  <c:v>7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v>RF подбор</c:v>
          </c:tx>
          <c:spPr>
            <a:solidFill xmlns:a="http://schemas.openxmlformats.org/drawingml/2006/main">
              <a:srgbClr val="4577AF"/>
            </a:solidFill>
          </c:spPr>
          <c:cat>
            <c:strRef>
              <c:f>'Chart Data'!$C$2:$C$5</c:f>
              <c:strCache>
                <c:ptCount val="4"/>
                <c:pt idx="0">
                  <c:v>Pathologic
как Normal</c:v>
                </c:pt>
                <c:pt idx="1">
                  <c:v>Suspect
как Normal</c:v>
                </c:pt>
                <c:pt idx="2">
                  <c:v>Pathologic
как Suspect</c:v>
                </c:pt>
                <c:pt idx="3">
                  <c:v>Ложное
предупреждение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8</c:v>
                </c:pt>
                <c:pt idx="2">
                  <c:v>7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v>MLP</c:v>
          </c:tx>
          <c:spPr>
            <a:solidFill xmlns:a="http://schemas.openxmlformats.org/drawingml/2006/main">
              <a:srgbClr val="C77934"/>
            </a:solidFill>
          </c:spPr>
          <c:cat>
            <c:strRef>
              <c:f>'Chart Data'!$E$2:$E$5</c:f>
              <c:strCache>
                <c:ptCount val="4"/>
                <c:pt idx="0">
                  <c:v>Pathologic
как Normal</c:v>
                </c:pt>
                <c:pt idx="1">
                  <c:v>Suspect
как Normal</c:v>
                </c:pt>
                <c:pt idx="2">
                  <c:v>Pathologic
как Suspect</c:v>
                </c:pt>
                <c:pt idx="3">
                  <c:v>Ложное
предупреждение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12</c:v>
                </c:pt>
                <c:pt idx="3">
                  <c:v>53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5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5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99E8-81F0-4CB0-8A4D-99588B4E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Классификация исследований КТГ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6D48-A93C-4ECB-8218-B099CDA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097A5-F689-48EF-B3A8-98F27ED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Исследование классических моделей и MLP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CE6DB-ECB7-4968-8735-F422575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По 21 измерению определяем паттерн CLASS и состояние NSP.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3FFB-BFA0-4FD8-A607-0A27BAD7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Цель сервиса: выделять подозрительные и патологические</a:t>
            </a:r>
          </a:p>
          <a:p xmlns:a="http://schemas.openxmlformats.org/drawingml/2006/main">
            <a: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исследования для более ранней ручной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12339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46376-83C0-46C2-9656-3D886BC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EDA: данные и дисбаланс паттернов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6E09F-1957-430B-9EC0-7B0FE462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DA6D6-0468-4F34-B2E7-58CBCCC8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2126 исходных записей, 2108 после очистки. Ниже частоты CLASS на train.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5B52642-DB17-4847-86A0-9032310002F7}"/>
              </a:ext>
            </a:extLst>
          </p:cNvPr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108585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c49d0c354646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F033A-9A2A-47C3-B17D-8FF16BB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Удалены повторы и конфликтующая разметка. Классы несбалансированы.</a:t>
            </a:r>
          </a:p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Поэтому основной общий критерий — macro-F1: все классы имеют равный вес.</a:t>
            </a:r>
          </a:p>
        </p:txBody>
      </p:sp>
    </p:spTree>
    <p:extLst>
      <p:ext uri="{BB962C8B-B14F-4D97-AF65-F5344CB8AC3E}">
        <p14:creationId xmlns:p14="http://schemas.microsoft.com/office/powerpoint/2010/main" val="475964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0036D-7EF4-4475-AB96-A9B2E60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Разбиение данных и выбор признаков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B199F-EB9D-471D-81FF-072E30F6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96ABBE5-7B87-4D6D-B290-7AB745E454E7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5524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4893879d2424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0B2F9-6737-41A5-882D-7AD04E15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48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60% для обучения, по 20%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для выбора настроек и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Все сегменты одного исследования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остаются в одной части.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Оставлен 21 признак. Добавлена duration.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Удалены идентификаторы, разметка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и избыточные LBE, DR, Width.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658B6-77B8-4DEA-A400-6EDCD39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CLASS и NSP связаны, но не однозначно: предсказываем их независимо.</a:t>
            </a:r>
          </a:p>
        </p:txBody>
      </p:sp>
    </p:spTree>
    <p:extLst>
      <p:ext uri="{BB962C8B-B14F-4D97-AF65-F5344CB8AC3E}">
        <p14:creationId xmlns:p14="http://schemas.microsoft.com/office/powerpoint/2010/main" val="1411380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1FA39-5565-4D3C-8E69-07EB657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Начальное сравнение: RandomForest —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8CBDA-D973-4063-91FD-1456294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3226439-A766-4B15-A6F8-CAE0DA373475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6f5896168d40a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41BAF-141C-4251-9DF3-F85F7853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Лес лучше линейных моделей на validation, но train macro-F1 = 1.</a:t>
            </a:r>
          </a:p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Далее проверяем, улучшат ли регуляризация и подбор работу на новых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708539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D264D-00A0-4664-B1F5-99029D1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Подбор параметров: что исследовали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EE946-6D33-4983-8581-AE6E4514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B9CD9-08A8-45AF-AF8D-6DA854EA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Optuna / TPE выбирает параметры по validation macro-F1.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73F21-7360-4FD5-B0EC-3380F51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763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Классические модели: 25 попыток для каждого из трёх типов и каждой цели,</a:t>
            </a:r>
          </a:p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затем 50 уточнений победителя. Всего 250 попыток.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MLP: по 25 попыток на цель. Меняли слои, learning rate,</a:t>
            </a:r>
          </a:p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Dropout, регуляризацию и веса классов. MLflow сохраняет результаты.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7352F-8BFD-4E6D-8EB8-9CE5E6F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MLP после подбора на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F4D1-B0AD-4D81-960D-FDA927D4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CLASS: macro-F1 0,743 → 0,843. NSP: 0,793 → 0,865.</a:t>
            </a:r>
          </a:p>
          <a:p xmlns:a="http://schemas.openxmlformats.org/drawingml/2006/main">
            <a:pPr>
              <a:defRPr sz="21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Эти улучшения ещё должны подтвердиться на test.</a:t>
            </a:r>
          </a:p>
        </p:txBody>
      </p:sp>
    </p:spTree>
    <p:extLst>
      <p:ext uri="{BB962C8B-B14F-4D97-AF65-F5344CB8AC3E}">
        <p14:creationId xmlns:p14="http://schemas.microsoft.com/office/powerpoint/2010/main" val="1560691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6661-05C7-4EAB-A36C-EF55B0A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MLP: как меняется качество при обучении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1675F-E27A-45DF-A143-2757C98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8DAD5-E57C-48E9-810B-368380F2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Пример исходной CLASS-сети. Ошибка снижается, macro-F1 растёт.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E4E92-8233-42D6-A666-8ECAAEFA41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8e28677144adb"/>
          <a:stretch xmlns:a="http://schemas.openxmlformats.org/drawingml/2006/main"/>
        </p:blipFill>
        <p:spPr>
          <a:xfrm xmlns:a="http://schemas.openxmlformats.org/drawingml/2006/main">
            <a:off x="889611" y="2047875"/>
            <a:ext cx="10317529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7E19E-1AE3-43D4-9F8E-C26CE2D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Перед MLP приводим измерения к сопоставимому масштабу: иначе признаки</a:t>
            </a:r>
          </a:p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с большими числами затрудняют обучение. Выбираем веса по validation.</a:t>
            </a:r>
          </a:p>
        </p:txBody>
      </p:sp>
    </p:spTree>
    <p:extLst>
      <p:ext uri="{BB962C8B-B14F-4D97-AF65-F5344CB8AC3E}">
        <p14:creationId xmlns:p14="http://schemas.microsoft.com/office/powerpoint/2010/main" val="1257134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4EA59-AA38-496F-BD16-9C0FB1A2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Сравнение на test: общие 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752DC-F5B6-4D08-9655-13B8A4C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30476-3866-4162-9D09-7A37C63E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5F12E-6EF7-4A3E-8C2E-26C01B09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NSP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02703F-2370-4706-AAC7-BD25B3B6F1F0}"/>
              </a:ext>
            </a:extLst>
          </p:cNvPr>
          <p:cNvGraphicFramePr/>
          <p:nvPr/>
        </p:nvGraphicFramePr>
        <p:xfrm>
          <a:off xmlns:a="http://schemas.openxmlformats.org/drawingml/2006/main" x="428625" y="1952625"/>
          <a:ext xmlns:a="http://schemas.openxmlformats.org/drawingml/2006/main" cx="5619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262150064a42a1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DF06BC2-D43E-4781-9CDA-05E48ACC3721}"/>
              </a:ext>
            </a:extLst>
          </p:cNvPr>
          <p:cNvGraphicFramePr/>
          <p:nvPr/>
        </p:nvGraphicFramePr>
        <p:xfrm>
          <a:off xmlns:a="http://schemas.openxmlformats.org/drawingml/2006/main" x="6238875" y="1952625"/>
          <a:ext xmlns:a="http://schemas.openxmlformats.org/drawingml/2006/main" cx="5619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3a5800cd8945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701E9-BF3B-4A0B-A5CF-75D8934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CLASS: RF улучшил все три показателя. NSP: общие метрики снизились.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MLP уступила лесу: рост качества на validation не подтвердился на test.</a:t>
            </a:r>
          </a:p>
        </p:txBody>
      </p:sp>
    </p:spTree>
    <p:extLst>
      <p:ext uri="{BB962C8B-B14F-4D97-AF65-F5344CB8AC3E}">
        <p14:creationId xmlns:p14="http://schemas.microsoft.com/office/powerpoint/2010/main" val="1086480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852D9-6752-4189-A8ED-51354A4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CLASS: распознавание паттернов на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B47F2-7D15-45A9-93AE-54CCF69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99A22-3B89-4C50-B538-AF0292F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Recall: доля верно определённых записей паттерна. Test: 421 запись.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6FEE035-CEEA-4DCC-8D8E-5B2ADDC4599A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570d5f003e437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8E16D-8775-45B4-B03F-9D9A4198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На test 16 записей D: RF baseline определил верно 3, RF после подбора — 12.</a:t>
            </a:r>
          </a:p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Из 14 записей FS верно определены 6 и 12 соответственно.</a:t>
            </a:r>
          </a:p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Macro-recall вырос 0,676 → 0,790, macro-precision снизился 0,860 → 0,775.</a:t>
            </a:r>
          </a:p>
        </p:txBody>
      </p:sp>
    </p:spTree>
    <p:extLst>
      <p:ext uri="{BB962C8B-B14F-4D97-AF65-F5344CB8AC3E}">
        <p14:creationId xmlns:p14="http://schemas.microsoft.com/office/powerpoint/2010/main" val="276431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457BA-482E-4742-BB30-7809743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NSP: пропуски и ложные предупреждения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294F6-960F-48A9-A3A9-F53966EA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EA8AC-D2D1-430C-8012-3FB6887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Количество ошибок на test: 421 исследование. Меньше — лучше.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3A7F92D-1B29-404A-83DE-B7A3AA27E3CE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858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12dfb427f443b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89A9F-FB98-484D-B06F-9A4CA005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На test RF baseline отнёс 14 Suspect/Pathologic к Normal, выбранный RF — 8.</a:t>
            </a:r>
          </a:p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Ложное предупреждение получили 17 нормальных исследований у baseline</a:t>
            </a:r>
          </a:p>
          <a:p xmlns:a="http://schemas.openxmlformats.org/drawingml/2006/main">
            <a:pPr>
              <a:defRPr sz="18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и 28 у выбранного RF. Это цена уменьшения пропусков.</a:t>
            </a:r>
          </a:p>
        </p:txBody>
      </p:sp>
    </p:spTree>
    <p:extLst>
      <p:ext uri="{BB962C8B-B14F-4D97-AF65-F5344CB8AC3E}">
        <p14:creationId xmlns:p14="http://schemas.microsoft.com/office/powerpoint/2010/main" val="1671878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9B47C-B79B-40B8-A491-D2925EE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E38"/>
                </a:solidFill>
                <a:latin typeface="Arial"/>
                <a:ea typeface="Arial"/>
                <a:cs typeface="Arial"/>
              </a:rPr>
              <a:t>Выбор моделей и результат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9A10-8FD9-4992-A7D1-B9F8F78E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E5B06-E3F6-4326-9D42-5F9B98F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CLASS: оптимизированный RandomForest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CC60-FD0F-461E-A9B0-5F2EBD05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Macro-F1 вырос с 0,712 до 0,777. Лучше определяются редкие D и FS,</a:t>
            </a:r>
          </a:p>
          <a:p xmlns:a="http://schemas.openxmlformats.org/drawingml/2006/main">
            <a:pPr>
              <a:defRPr sz="210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хотя precision снизился: улучшение имеет свою цену.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AEC66-06B5-45DF-81EF-9C86A93E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NSP: оптимизированный RandomForest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AB8DC-09D0-49B1-9B7A-88BE279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Optuna повышала macro-F1. При ручном выборе на validation дополнительно</a:t>
            </a:r>
          </a:p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проверяли: пропуски Suspect/Pathologic как Normal не должны расти.</a:t>
            </a:r>
          </a:p>
          <a:p xmlns:a="http://schemas.openxmlformats.org/drawingml/2006/main">
            <a:pPr>
              <a:defRPr sz="1875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На test пропусков стало меньше, но ложных предупреждений — больше.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7A8B2-03CC-4105-A490-B0CFEBE8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Модели работают в FastAPI: очередь исследований, паттерн и важность.</a:t>
            </a:r>
          </a:p>
          <a:p xmlns:a="http://schemas.openxmlformats.org/drawingml/2006/main">
            <a:pPr>
              <a:defRPr sz="1950" b="0">
                <a:solidFill>
                  <a:srgbClr val="182E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E38"/>
                </a:solidFill>
                <a:latin typeface="Arial"/>
                <a:ea typeface="Arial"/>
                <a:cs typeface="Arial"/>
              </a:rPr>
              <a:t>20 контрольных примеров показывают результат в интерфейсе.</a:t>
            </a:r>
          </a:p>
        </p:txBody>
      </p:sp>
    </p:spTree>
    <p:extLst>
      <p:ext uri="{BB962C8B-B14F-4D97-AF65-F5344CB8AC3E}">
        <p14:creationId xmlns:p14="http://schemas.microsoft.com/office/powerpoint/2010/main" val="2009798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2026-10-15T14:57:30.2760000Z</dcterms:created>
  <dcterms:modified xsi:type="dcterms:W3CDTF">2026-10-15T14:57:30.2760000Z</dcterms:modified>
</coreProperties>
</file>